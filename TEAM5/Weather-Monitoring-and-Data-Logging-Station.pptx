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0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32" y="-4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90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298897"/>
            <a:ext cx="191906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1174" y="1341388"/>
            <a:ext cx="22061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SYSTEMS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570955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Weather Monitoring &amp; Data Logging Station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361771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Systems Project — ATmega32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588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22747"/>
            <a:ext cx="8151763" cy="3700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/ Title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&amp; System Architecture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Used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Requirements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7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Requirements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8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Structure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9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Architecture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0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Schedule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1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EEPROM Memory Layout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2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Alarm Conditions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3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4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Information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15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&amp; Acknowledgments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804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06997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environmental monitoring station using ATmega32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sensor data acquisition and LCD display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logging to EEPROM with threshold-based alarms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UART communication for data retrieval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827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9674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aims to achieve the following key objectives: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5671"/>
            <a:ext cx="4011513" cy="730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430" y="1589782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Continuously monitor environmental conditions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6368" y="1435671"/>
            <a:ext cx="4011513" cy="730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6680" y="1589782"/>
            <a:ext cx="36270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real-time sensor values on LCD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94855"/>
            <a:ext cx="4011513" cy="7304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2448967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historical measurements in internal EEPROM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6368" y="2294855"/>
            <a:ext cx="4011513" cy="7304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66680" y="2448967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edge-triggered, threshold-based alarms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154040"/>
            <a:ext cx="4011513" cy="7304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26430" y="3308152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serial communication with a PC over UART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6368" y="3154040"/>
            <a:ext cx="4011513" cy="73044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866680" y="3308152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 periodic sampling using Timer0-based cooperative scheduler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13225"/>
            <a:ext cx="4011513" cy="73044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26430" y="4167336"/>
            <a:ext cx="36270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reusable, layered embedded drivers</a:t>
            </a:r>
            <a:endParaRPr lang="en-US" sz="13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6368" y="4013225"/>
            <a:ext cx="4011513" cy="73044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866680" y="4167336"/>
            <a:ext cx="36270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Apply strict layered software architecture (LIB/Common → MCAL → HAL → APP)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Approach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25450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55762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37367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MCAL &amp; Libraries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67310" y="1663195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Microcontroller drivers and common services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908" y="2487179"/>
            <a:ext cx="1827290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 Abstraction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8908" y="3002106"/>
            <a:ext cx="1827290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Abstracts hardware for APP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233021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7310" y="3522543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Top-level features and user logic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626173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employs a strict layered design: APP → HAL → MCAL → LIB/Common. Each layer is designed to interact only with the layer directly beneath it, ensuring modularity and maintainability. This architecture keeps drivers reusable and hardware details isolated, promoting a clean separation of concerns and making the system adaptable to different hardware configurations.</a:t>
            </a:r>
            <a:endParaRPr lang="en-US" sz="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D3C59682-A249-9756-91B7-81F9B5C70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723" y="1231145"/>
            <a:ext cx="177180" cy="177180"/>
          </a:xfrm>
          <a:prstGeom prst="rect">
            <a:avLst/>
          </a:prstGeom>
        </p:spPr>
      </p:pic>
      <p:sp>
        <p:nvSpPr>
          <p:cNvPr id="69" name="Text 10">
            <a:extLst>
              <a:ext uri="{FF2B5EF4-FFF2-40B4-BE49-F238E27FC236}">
                <a16:creationId xmlns:a16="http://schemas.microsoft.com/office/drawing/2014/main" id="{4D7DDCBE-12E3-8A15-393B-5CAF92E2021F}"/>
              </a:ext>
            </a:extLst>
          </p:cNvPr>
          <p:cNvSpPr/>
          <p:nvPr/>
        </p:nvSpPr>
        <p:spPr>
          <a:xfrm>
            <a:off x="571723" y="1452601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Sensor Reading</a:t>
            </a:r>
            <a:endParaRPr lang="en-US" sz="650" dirty="0"/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BC7338EE-F154-D9D3-408D-9DF71EEC87A5}"/>
              </a:ext>
            </a:extLst>
          </p:cNvPr>
          <p:cNvSpPr/>
          <p:nvPr/>
        </p:nvSpPr>
        <p:spPr>
          <a:xfrm>
            <a:off x="571723" y="1584538"/>
            <a:ext cx="268768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monitors Temperature (LM35) and Light (LDR) every 500ms for immediate environmental data.</a:t>
            </a:r>
            <a:endParaRPr lang="en-US" sz="550" dirty="0"/>
          </a:p>
        </p:txBody>
      </p:sp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B168E497-F893-1C7B-4B76-367D6974E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3686" y="1231145"/>
            <a:ext cx="177180" cy="177180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C53CA290-C59B-EF8B-A88A-51B7A99CA1A5}"/>
              </a:ext>
            </a:extLst>
          </p:cNvPr>
          <p:cNvSpPr/>
          <p:nvPr/>
        </p:nvSpPr>
        <p:spPr>
          <a:xfrm>
            <a:off x="3303686" y="1452601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LCD Display</a:t>
            </a:r>
            <a:endParaRPr lang="en-US" sz="65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F56455EC-CB58-D10A-86CA-643672CA8EA8}"/>
              </a:ext>
            </a:extLst>
          </p:cNvPr>
          <p:cNvSpPr/>
          <p:nvPr/>
        </p:nvSpPr>
        <p:spPr>
          <a:xfrm>
            <a:off x="3303686" y="1584538"/>
            <a:ext cx="268776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live, instant measurements of all monitored environmental parameters directly on a connected LCD screen.</a:t>
            </a:r>
            <a:endParaRPr lang="en-US" sz="550" dirty="0"/>
          </a:p>
        </p:txBody>
      </p:sp>
      <p:pic>
        <p:nvPicPr>
          <p:cNvPr id="79" name="Image 3" descr="preencoded.png">
            <a:extLst>
              <a:ext uri="{FF2B5EF4-FFF2-40B4-BE49-F238E27FC236}">
                <a16:creationId xmlns:a16="http://schemas.microsoft.com/office/drawing/2014/main" id="{269F7EC3-3CD3-8207-5FCF-3328B5D22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724" y="1231145"/>
            <a:ext cx="177180" cy="177180"/>
          </a:xfrm>
          <a:prstGeom prst="rect">
            <a:avLst/>
          </a:prstGeom>
        </p:spPr>
      </p:pic>
      <p:sp>
        <p:nvSpPr>
          <p:cNvPr id="81" name="Text 14">
            <a:extLst>
              <a:ext uri="{FF2B5EF4-FFF2-40B4-BE49-F238E27FC236}">
                <a16:creationId xmlns:a16="http://schemas.microsoft.com/office/drawing/2014/main" id="{14C569F9-2A13-D429-8AE0-8B9FF86231CF}"/>
              </a:ext>
            </a:extLst>
          </p:cNvPr>
          <p:cNvSpPr/>
          <p:nvPr/>
        </p:nvSpPr>
        <p:spPr>
          <a:xfrm>
            <a:off x="6035724" y="1452601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EEPROM Data Logging</a:t>
            </a:r>
            <a:endParaRPr lang="en-US" sz="650" dirty="0"/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576E6681-8FC7-A154-9834-3E62183E8968}"/>
              </a:ext>
            </a:extLst>
          </p:cNvPr>
          <p:cNvSpPr/>
          <p:nvPr/>
        </p:nvSpPr>
        <p:spPr>
          <a:xfrm>
            <a:off x="6035724" y="1584538"/>
            <a:ext cx="268768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historical environmental measurements every 5 seconds, with capacity to hold up to 60 records in internal EEPROM.</a:t>
            </a:r>
            <a:endParaRPr lang="en-US" sz="550" dirty="0"/>
          </a:p>
        </p:txBody>
      </p:sp>
      <p:pic>
        <p:nvPicPr>
          <p:cNvPr id="85" name="Image 4" descr="preencoded.png">
            <a:extLst>
              <a:ext uri="{FF2B5EF4-FFF2-40B4-BE49-F238E27FC236}">
                <a16:creationId xmlns:a16="http://schemas.microsoft.com/office/drawing/2014/main" id="{053A6813-8789-181D-F514-32CEFD299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723" y="1825490"/>
            <a:ext cx="177180" cy="177180"/>
          </a:xfrm>
          <a:prstGeom prst="rect">
            <a:avLst/>
          </a:prstGeom>
        </p:spPr>
      </p:pic>
      <p:sp>
        <p:nvSpPr>
          <p:cNvPr id="87" name="Text 16">
            <a:extLst>
              <a:ext uri="{FF2B5EF4-FFF2-40B4-BE49-F238E27FC236}">
                <a16:creationId xmlns:a16="http://schemas.microsoft.com/office/drawing/2014/main" id="{E4879A88-623E-7FD3-2BB3-D2C6D9E1B416}"/>
              </a:ext>
            </a:extLst>
          </p:cNvPr>
          <p:cNvSpPr/>
          <p:nvPr/>
        </p:nvSpPr>
        <p:spPr>
          <a:xfrm>
            <a:off x="571723" y="2046947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Threshold-based Alarm System</a:t>
            </a:r>
            <a:endParaRPr lang="en-US" sz="650" dirty="0"/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39F1BAB2-DAA9-2674-9DDD-87D1990A9C8A}"/>
              </a:ext>
            </a:extLst>
          </p:cNvPr>
          <p:cNvSpPr/>
          <p:nvPr/>
        </p:nvSpPr>
        <p:spPr>
          <a:xfrm>
            <a:off x="571723" y="2178883"/>
            <a:ext cx="268768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Activates edge-triggered alerts when predefined environmental thresholds are exceeded, ensuring timely notifications.</a:t>
            </a:r>
            <a:endParaRPr lang="en-US" sz="550" dirty="0"/>
          </a:p>
        </p:txBody>
      </p:sp>
      <p:pic>
        <p:nvPicPr>
          <p:cNvPr id="91" name="Image 5" descr="preencoded.png">
            <a:extLst>
              <a:ext uri="{FF2B5EF4-FFF2-40B4-BE49-F238E27FC236}">
                <a16:creationId xmlns:a16="http://schemas.microsoft.com/office/drawing/2014/main" id="{11FED6CE-A425-2D6A-64B6-47F507462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3686" y="1825490"/>
            <a:ext cx="177180" cy="177180"/>
          </a:xfrm>
          <a:prstGeom prst="rect">
            <a:avLst/>
          </a:prstGeom>
        </p:spPr>
      </p:pic>
      <p:sp>
        <p:nvSpPr>
          <p:cNvPr id="93" name="Text 18">
            <a:extLst>
              <a:ext uri="{FF2B5EF4-FFF2-40B4-BE49-F238E27FC236}">
                <a16:creationId xmlns:a16="http://schemas.microsoft.com/office/drawing/2014/main" id="{120E5B7A-CD27-B709-4895-95D50BCDFF82}"/>
              </a:ext>
            </a:extLst>
          </p:cNvPr>
          <p:cNvSpPr/>
          <p:nvPr/>
        </p:nvSpPr>
        <p:spPr>
          <a:xfrm>
            <a:off x="3303686" y="2046947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UART Interface</a:t>
            </a:r>
            <a:endParaRPr lang="en-US" sz="650" dirty="0"/>
          </a:p>
        </p:txBody>
      </p:sp>
      <p:sp>
        <p:nvSpPr>
          <p:cNvPr id="95" name="Text 19">
            <a:extLst>
              <a:ext uri="{FF2B5EF4-FFF2-40B4-BE49-F238E27FC236}">
                <a16:creationId xmlns:a16="http://schemas.microsoft.com/office/drawing/2014/main" id="{7235B007-1DC0-518B-9427-21787C719891}"/>
              </a:ext>
            </a:extLst>
          </p:cNvPr>
          <p:cNvSpPr/>
          <p:nvPr/>
        </p:nvSpPr>
        <p:spPr>
          <a:xfrm>
            <a:off x="3303686" y="2178883"/>
            <a:ext cx="268776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serial communication with a PC, allowing for efficient data retrieval and execution of system commands.</a:t>
            </a:r>
            <a:endParaRPr lang="en-US" sz="550" dirty="0"/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E66FAE08-416D-2761-297F-F17D882E2424}"/>
              </a:ext>
            </a:extLst>
          </p:cNvPr>
          <p:cNvSpPr/>
          <p:nvPr/>
        </p:nvSpPr>
        <p:spPr>
          <a:xfrm>
            <a:off x="571723" y="240212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Sampling Schedule</a:t>
            </a:r>
            <a:endParaRPr lang="en-US" sz="1100" dirty="0"/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C71F2B06-D3CE-B905-6EAF-B5A205A35A15}"/>
              </a:ext>
            </a:extLst>
          </p:cNvPr>
          <p:cNvSpPr/>
          <p:nvPr/>
        </p:nvSpPr>
        <p:spPr>
          <a:xfrm>
            <a:off x="571723" y="2632436"/>
            <a:ext cx="8151763" cy="997074"/>
          </a:xfrm>
          <a:prstGeom prst="roundRect">
            <a:avLst>
              <a:gd name="adj" fmla="val 29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1" name="Shape 22">
            <a:extLst>
              <a:ext uri="{FF2B5EF4-FFF2-40B4-BE49-F238E27FC236}">
                <a16:creationId xmlns:a16="http://schemas.microsoft.com/office/drawing/2014/main" id="{C1ACD1E8-78EC-9AD2-4657-9E5DF6E77EF5}"/>
              </a:ext>
            </a:extLst>
          </p:cNvPr>
          <p:cNvSpPr/>
          <p:nvPr/>
        </p:nvSpPr>
        <p:spPr>
          <a:xfrm>
            <a:off x="571723" y="2776576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3" name="Shape 23">
            <a:extLst>
              <a:ext uri="{FF2B5EF4-FFF2-40B4-BE49-F238E27FC236}">
                <a16:creationId xmlns:a16="http://schemas.microsoft.com/office/drawing/2014/main" id="{98CBB272-2571-D21F-0CDD-E94E555ACD84}"/>
              </a:ext>
            </a:extLst>
          </p:cNvPr>
          <p:cNvSpPr/>
          <p:nvPr/>
        </p:nvSpPr>
        <p:spPr>
          <a:xfrm>
            <a:off x="571723" y="2918335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5" name="Shape 24">
            <a:extLst>
              <a:ext uri="{FF2B5EF4-FFF2-40B4-BE49-F238E27FC236}">
                <a16:creationId xmlns:a16="http://schemas.microsoft.com/office/drawing/2014/main" id="{35340039-0560-CCF6-CBF2-F85731093B0A}"/>
              </a:ext>
            </a:extLst>
          </p:cNvPr>
          <p:cNvSpPr/>
          <p:nvPr/>
        </p:nvSpPr>
        <p:spPr>
          <a:xfrm>
            <a:off x="571723" y="3060094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7" name="Shape 25">
            <a:extLst>
              <a:ext uri="{FF2B5EF4-FFF2-40B4-BE49-F238E27FC236}">
                <a16:creationId xmlns:a16="http://schemas.microsoft.com/office/drawing/2014/main" id="{F5A3D15C-8981-2AAA-3088-8E1C68089E5B}"/>
              </a:ext>
            </a:extLst>
          </p:cNvPr>
          <p:cNvSpPr/>
          <p:nvPr/>
        </p:nvSpPr>
        <p:spPr>
          <a:xfrm>
            <a:off x="571723" y="3201853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9" name="Shape 26">
            <a:extLst>
              <a:ext uri="{FF2B5EF4-FFF2-40B4-BE49-F238E27FC236}">
                <a16:creationId xmlns:a16="http://schemas.microsoft.com/office/drawing/2014/main" id="{94FFEB0B-BB9E-FF13-CCDE-E511DE03E79D}"/>
              </a:ext>
            </a:extLst>
          </p:cNvPr>
          <p:cNvSpPr/>
          <p:nvPr/>
        </p:nvSpPr>
        <p:spPr>
          <a:xfrm>
            <a:off x="571723" y="3343612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1" name="Shape 27">
            <a:extLst>
              <a:ext uri="{FF2B5EF4-FFF2-40B4-BE49-F238E27FC236}">
                <a16:creationId xmlns:a16="http://schemas.microsoft.com/office/drawing/2014/main" id="{9979D707-E9D4-0C65-F19D-3E5BB28439AA}"/>
              </a:ext>
            </a:extLst>
          </p:cNvPr>
          <p:cNvSpPr/>
          <p:nvPr/>
        </p:nvSpPr>
        <p:spPr>
          <a:xfrm>
            <a:off x="571723" y="3485370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3" name="Shape 28">
            <a:extLst>
              <a:ext uri="{FF2B5EF4-FFF2-40B4-BE49-F238E27FC236}">
                <a16:creationId xmlns:a16="http://schemas.microsoft.com/office/drawing/2014/main" id="{6DFE87B2-46F8-740D-1B46-DDB05ACE2262}"/>
              </a:ext>
            </a:extLst>
          </p:cNvPr>
          <p:cNvSpPr/>
          <p:nvPr/>
        </p:nvSpPr>
        <p:spPr>
          <a:xfrm>
            <a:off x="4647604" y="2632436"/>
            <a:ext cx="4763" cy="99707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5" name="Text 29">
            <a:extLst>
              <a:ext uri="{FF2B5EF4-FFF2-40B4-BE49-F238E27FC236}">
                <a16:creationId xmlns:a16="http://schemas.microsoft.com/office/drawing/2014/main" id="{69695FFA-1291-7BF1-8EEF-F4521DC4EA21}"/>
              </a:ext>
            </a:extLst>
          </p:cNvPr>
          <p:cNvSpPr/>
          <p:nvPr/>
        </p:nvSpPr>
        <p:spPr>
          <a:xfrm>
            <a:off x="647327" y="2663169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</a:t>
            </a:r>
            <a:endParaRPr lang="en-US" sz="550" dirty="0"/>
          </a:p>
        </p:txBody>
      </p:sp>
      <p:sp>
        <p:nvSpPr>
          <p:cNvPr id="117" name="Text 30">
            <a:extLst>
              <a:ext uri="{FF2B5EF4-FFF2-40B4-BE49-F238E27FC236}">
                <a16:creationId xmlns:a16="http://schemas.microsoft.com/office/drawing/2014/main" id="{9C7727D8-F924-34DD-AA9D-EDFAEF560EF5}"/>
              </a:ext>
            </a:extLst>
          </p:cNvPr>
          <p:cNvSpPr/>
          <p:nvPr/>
        </p:nvSpPr>
        <p:spPr>
          <a:xfrm>
            <a:off x="4720827" y="2663169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</a:t>
            </a:r>
            <a:endParaRPr lang="en-US" sz="55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114D5B0E-48B2-CA50-0C60-7DB385BFA614}"/>
              </a:ext>
            </a:extLst>
          </p:cNvPr>
          <p:cNvSpPr/>
          <p:nvPr/>
        </p:nvSpPr>
        <p:spPr>
          <a:xfrm>
            <a:off x="647327" y="2804928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Temperature</a:t>
            </a:r>
            <a:endParaRPr lang="en-US" sz="550" dirty="0"/>
          </a:p>
        </p:txBody>
      </p:sp>
      <p:sp>
        <p:nvSpPr>
          <p:cNvPr id="121" name="Text 32">
            <a:extLst>
              <a:ext uri="{FF2B5EF4-FFF2-40B4-BE49-F238E27FC236}">
                <a16:creationId xmlns:a16="http://schemas.microsoft.com/office/drawing/2014/main" id="{CC5E7AE0-B763-ACD1-1F53-6094F913F842}"/>
              </a:ext>
            </a:extLst>
          </p:cNvPr>
          <p:cNvSpPr/>
          <p:nvPr/>
        </p:nvSpPr>
        <p:spPr>
          <a:xfrm>
            <a:off x="4720827" y="2804928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ms</a:t>
            </a:r>
            <a:endParaRPr lang="en-US" sz="550" dirty="0"/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99C08D6A-8D83-A840-7E38-474ADE9CDA36}"/>
              </a:ext>
            </a:extLst>
          </p:cNvPr>
          <p:cNvSpPr/>
          <p:nvPr/>
        </p:nvSpPr>
        <p:spPr>
          <a:xfrm>
            <a:off x="647327" y="2946687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Light Sensor</a:t>
            </a:r>
            <a:endParaRPr lang="en-US" sz="550" dirty="0"/>
          </a:p>
        </p:txBody>
      </p:sp>
      <p:sp>
        <p:nvSpPr>
          <p:cNvPr id="125" name="Text 34">
            <a:extLst>
              <a:ext uri="{FF2B5EF4-FFF2-40B4-BE49-F238E27FC236}">
                <a16:creationId xmlns:a16="http://schemas.microsoft.com/office/drawing/2014/main" id="{66EF9016-DAFE-A973-2E46-CE2286E9C1C2}"/>
              </a:ext>
            </a:extLst>
          </p:cNvPr>
          <p:cNvSpPr/>
          <p:nvPr/>
        </p:nvSpPr>
        <p:spPr>
          <a:xfrm>
            <a:off x="4720827" y="2946687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ms</a:t>
            </a:r>
            <a:endParaRPr lang="en-US" sz="550" dirty="0"/>
          </a:p>
        </p:txBody>
      </p:sp>
      <p:sp>
        <p:nvSpPr>
          <p:cNvPr id="127" name="Text 35">
            <a:extLst>
              <a:ext uri="{FF2B5EF4-FFF2-40B4-BE49-F238E27FC236}">
                <a16:creationId xmlns:a16="http://schemas.microsoft.com/office/drawing/2014/main" id="{FD3B16A8-7B64-93ED-4CFA-023C1B8B6BE7}"/>
              </a:ext>
            </a:extLst>
          </p:cNvPr>
          <p:cNvSpPr/>
          <p:nvPr/>
        </p:nvSpPr>
        <p:spPr>
          <a:xfrm>
            <a:off x="647327" y="3088446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LCD</a:t>
            </a:r>
            <a:endParaRPr lang="en-US" sz="550" dirty="0"/>
          </a:p>
        </p:txBody>
      </p:sp>
      <p:sp>
        <p:nvSpPr>
          <p:cNvPr id="129" name="Text 36">
            <a:extLst>
              <a:ext uri="{FF2B5EF4-FFF2-40B4-BE49-F238E27FC236}">
                <a16:creationId xmlns:a16="http://schemas.microsoft.com/office/drawing/2014/main" id="{0F0F24F6-846D-EBF2-D318-F2B8EE04C5AE}"/>
              </a:ext>
            </a:extLst>
          </p:cNvPr>
          <p:cNvSpPr/>
          <p:nvPr/>
        </p:nvSpPr>
        <p:spPr>
          <a:xfrm>
            <a:off x="4720827" y="3088446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 ms</a:t>
            </a:r>
            <a:endParaRPr lang="en-US" sz="550" dirty="0"/>
          </a:p>
        </p:txBody>
      </p:sp>
      <p:sp>
        <p:nvSpPr>
          <p:cNvPr id="131" name="Text 37">
            <a:extLst>
              <a:ext uri="{FF2B5EF4-FFF2-40B4-BE49-F238E27FC236}">
                <a16:creationId xmlns:a16="http://schemas.microsoft.com/office/drawing/2014/main" id="{CA210EF4-E24D-B05F-8420-2732F5B2311A}"/>
              </a:ext>
            </a:extLst>
          </p:cNvPr>
          <p:cNvSpPr/>
          <p:nvPr/>
        </p:nvSpPr>
        <p:spPr>
          <a:xfrm>
            <a:off x="647327" y="3230205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Data (EEPROM)</a:t>
            </a:r>
            <a:endParaRPr lang="en-US" sz="550" dirty="0"/>
          </a:p>
        </p:txBody>
      </p:sp>
      <p:sp>
        <p:nvSpPr>
          <p:cNvPr id="133" name="Text 38">
            <a:extLst>
              <a:ext uri="{FF2B5EF4-FFF2-40B4-BE49-F238E27FC236}">
                <a16:creationId xmlns:a16="http://schemas.microsoft.com/office/drawing/2014/main" id="{EB82C04C-76BF-3C96-178A-BA13754C0D3B}"/>
              </a:ext>
            </a:extLst>
          </p:cNvPr>
          <p:cNvSpPr/>
          <p:nvPr/>
        </p:nvSpPr>
        <p:spPr>
          <a:xfrm>
            <a:off x="4720827" y="3230205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 ms</a:t>
            </a:r>
            <a:endParaRPr lang="en-US" sz="550" dirty="0"/>
          </a:p>
        </p:txBody>
      </p:sp>
      <p:sp>
        <p:nvSpPr>
          <p:cNvPr id="135" name="Text 39">
            <a:extLst>
              <a:ext uri="{FF2B5EF4-FFF2-40B4-BE49-F238E27FC236}">
                <a16:creationId xmlns:a16="http://schemas.microsoft.com/office/drawing/2014/main" id="{82C8CA10-6705-CB11-E1B0-724BCCB2AFBE}"/>
              </a:ext>
            </a:extLst>
          </p:cNvPr>
          <p:cNvSpPr/>
          <p:nvPr/>
        </p:nvSpPr>
        <p:spPr>
          <a:xfrm>
            <a:off x="647327" y="3371963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Alarm</a:t>
            </a:r>
            <a:endParaRPr lang="en-US" sz="550" dirty="0"/>
          </a:p>
        </p:txBody>
      </p:sp>
      <p:sp>
        <p:nvSpPr>
          <p:cNvPr id="137" name="Text 40">
            <a:extLst>
              <a:ext uri="{FF2B5EF4-FFF2-40B4-BE49-F238E27FC236}">
                <a16:creationId xmlns:a16="http://schemas.microsoft.com/office/drawing/2014/main" id="{04FD8D68-AF4A-05FA-D0EC-B227ADE52898}"/>
              </a:ext>
            </a:extLst>
          </p:cNvPr>
          <p:cNvSpPr/>
          <p:nvPr/>
        </p:nvSpPr>
        <p:spPr>
          <a:xfrm>
            <a:off x="4720827" y="3371963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ms</a:t>
            </a:r>
            <a:endParaRPr lang="en-US" sz="550" dirty="0"/>
          </a:p>
        </p:txBody>
      </p:sp>
      <p:sp>
        <p:nvSpPr>
          <p:cNvPr id="139" name="Text 41">
            <a:extLst>
              <a:ext uri="{FF2B5EF4-FFF2-40B4-BE49-F238E27FC236}">
                <a16:creationId xmlns:a16="http://schemas.microsoft.com/office/drawing/2014/main" id="{1530E900-4B23-A560-FB91-0B8119BF7AA3}"/>
              </a:ext>
            </a:extLst>
          </p:cNvPr>
          <p:cNvSpPr/>
          <p:nvPr/>
        </p:nvSpPr>
        <p:spPr>
          <a:xfrm>
            <a:off x="647327" y="3513722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UART Communication</a:t>
            </a:r>
            <a:endParaRPr lang="en-US" sz="550" dirty="0"/>
          </a:p>
        </p:txBody>
      </p:sp>
      <p:sp>
        <p:nvSpPr>
          <p:cNvPr id="141" name="Text 42">
            <a:extLst>
              <a:ext uri="{FF2B5EF4-FFF2-40B4-BE49-F238E27FC236}">
                <a16:creationId xmlns:a16="http://schemas.microsoft.com/office/drawing/2014/main" id="{F58A79E8-F7C4-F6C3-0357-4255797B94C0}"/>
              </a:ext>
            </a:extLst>
          </p:cNvPr>
          <p:cNvSpPr/>
          <p:nvPr/>
        </p:nvSpPr>
        <p:spPr>
          <a:xfrm>
            <a:off x="4720827" y="3513722"/>
            <a:ext cx="438425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Driven</a:t>
            </a:r>
            <a:endParaRPr lang="en-US" sz="550" dirty="0"/>
          </a:p>
        </p:txBody>
      </p:sp>
      <p:sp>
        <p:nvSpPr>
          <p:cNvPr id="143" name="Text 9">
            <a:extLst>
              <a:ext uri="{FF2B5EF4-FFF2-40B4-BE49-F238E27FC236}">
                <a16:creationId xmlns:a16="http://schemas.microsoft.com/office/drawing/2014/main" id="{5F98E80B-CCD1-1CA5-74BF-6BCD394A7B0E}"/>
              </a:ext>
            </a:extLst>
          </p:cNvPr>
          <p:cNvSpPr/>
          <p:nvPr/>
        </p:nvSpPr>
        <p:spPr>
          <a:xfrm>
            <a:off x="571648" y="963533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4019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1" grpId="0" animBg="1"/>
      <p:bldP spid="75" grpId="0" animBg="1"/>
      <p:bldP spid="77" grpId="0" animBg="1"/>
      <p:bldP spid="81" grpId="0" animBg="1"/>
      <p:bldP spid="83" grpId="0" animBg="1"/>
      <p:bldP spid="87" grpId="0" animBg="1"/>
      <p:bldP spid="89" grpId="0" animBg="1"/>
      <p:bldP spid="93" grpId="0" animBg="1"/>
      <p:bldP spid="95" grpId="0" animBg="1"/>
      <p:bldP spid="97" grpId="0" animBg="1"/>
      <p:bldP spid="115" grpId="0" animBg="1"/>
      <p:bldP spid="117" grpId="0" animBg="1"/>
      <p:bldP spid="119" grpId="0" animBg="1"/>
      <p:bldP spid="121" grpId="0" animBg="1"/>
      <p:bldP spid="123" grpId="0" animBg="1"/>
      <p:bldP spid="125" grpId="0" animBg="1"/>
      <p:bldP spid="127" grpId="0" animBg="1"/>
      <p:bldP spid="129" grpId="0" animBg="1"/>
      <p:bldP spid="131" grpId="0" animBg="1"/>
      <p:bldP spid="133" grpId="0" animBg="1"/>
      <p:bldP spid="135" grpId="0" animBg="1"/>
      <p:bldP spid="137" grpId="0" animBg="1"/>
      <p:bldP spid="139" grpId="0" animBg="1"/>
      <p:bldP spid="141" grpId="0" animBg="1"/>
      <p:bldP spid="1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257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Drivers Used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42603"/>
            <a:ext cx="8151763" cy="15638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584" y="1065386"/>
            <a:ext cx="749751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MCAL (Microcontroller Abstraction Layer)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27584" y="1318766"/>
            <a:ext cx="7497514" cy="106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ADC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Converts analog sensor signals to digital values for temperature and light measurements.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Manages global interrupt enable/disable for system-wide interrupt control.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EXTI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Handles external interrupt events for responsive system behavior.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TIMER0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Provides timing and scheduling capabilities in Normal, CTC, and PWM modes for periodic tasks.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UART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Enables serial communication with a PC for data retrieval and command execution.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LCD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Controls a 16x2 LCD display for real-time status visualization.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589461"/>
            <a:ext cx="8151763" cy="1016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7584" y="2712244"/>
            <a:ext cx="749751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 (Hardware Abstraction Layer)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27584" y="2965624"/>
            <a:ext cx="7497514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LM35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Temperature sensor driver that converts analog readings to Celsius values.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LDR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Light sensor driver that converts analog readings to light intensity percentages.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EEPROM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Internal memory driver for persistent data storage and retrieval of logged records.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689375"/>
            <a:ext cx="8151763" cy="1016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584" y="3812158"/>
            <a:ext cx="749751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 / Common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027584" y="4065538"/>
            <a:ext cx="7497514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STD_TYPES.h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Defines standard data types such as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uint8_t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others for consistent type usage.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BIT_MATH.h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Provides bit manipulation macros for efficient register operations.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register-map / macros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Centralized hardware register definitions and utility macros.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 Requirements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ATmega32 Microcontroller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(8-bit AVR processor)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LM35 Temperature Sensor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(analog temperature measurement)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50152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LDR Sensor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(Light Dependent Resistor for light intensity)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16x2 LCD Display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(for real-time status visualization)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EEPROM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(for data storage)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3076724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48747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UART Interface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048747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(e.g., CH340 USB-to-Serial converter for PC communication)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18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Requirements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2834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5988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Microchip Studio / Atmel Studio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(IDE for development)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2834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25988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Proteus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(simulation and circuit design)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AVR-GCC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(compiler for AVR microcontrollers)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/ GitHub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(version control and repository management)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217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Structure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496119" y="743024"/>
            <a:ext cx="8151763" cy="3349898"/>
          </a:xfrm>
          <a:prstGeom prst="roundRect">
            <a:avLst>
              <a:gd name="adj" fmla="val 1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591741" y="822722"/>
            <a:ext cx="7960519" cy="319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Weather_Station/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main.c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Weather_Controller/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DataLogger/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AlarmManager/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Monitoring/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UART_Handler/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HAL/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LCD/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LM35/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LDR/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EEPROM/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MCAL/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ADC/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GIE/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EXTI/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TIMER0/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UART/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STD_TYPES.h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BIT_MATH.h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(Common register-map / macros)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6119" y="4143375"/>
            <a:ext cx="86089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follows a consistent 4-file layout: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96119" y="4293543"/>
            <a:ext cx="815176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ModuleName_Config.h</a:t>
            </a: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(configuration &amp; tunable parameters)</a:t>
            </a:r>
            <a:endParaRPr lang="en-US" sz="600" dirty="0"/>
          </a:p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ModuleName_Interface.h</a:t>
            </a: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(public API exposed to other layers)</a:t>
            </a:r>
            <a:endParaRPr lang="en-US" sz="600" dirty="0"/>
          </a:p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ModuleName_Private.h</a:t>
            </a: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(internal macros / prototypes)</a:t>
            </a:r>
            <a:endParaRPr lang="en-US" sz="600" dirty="0"/>
          </a:p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ModuleName_Program.c</a:t>
            </a: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(implementation)</a:t>
            </a:r>
            <a:endParaRPr lang="en-US" sz="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890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Layered Architecture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8" y="1389107"/>
            <a:ext cx="815176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implements a strict layered software architecture to ensure modularity, reusability, and maintainability. Each layer is designed with specific responsibilities, and interactions are strictly unidirectional, meaning a layer can only call functions or access services provided by the layer immediately below it.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8" y="1995284"/>
            <a:ext cx="8151763" cy="143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 Layer (Application):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Contains the high-level application logic and features, such as managing weather data, logging, alarms, monitoring, and UART communication. This layer depends on the HAL for hardware interactions.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 Layer (Hardware Abstraction):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an abstract interface to various hardware components, simplifying their use for the application layer. It includes drivers for the LCD, LM35 temperature sensor, LDR light sensor, and EEPROM.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MCAL Layer (Microcontroller Abstraction):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 interacts with the microcontroller's peripherals. This layer includes drivers for ADC, GIE (Global Interrupt Enable), EXTI (External Interrupt), TIMER0, and UART, abstracting the low-level register operations.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LIB/Common Layer (Libraries):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Consists of fundamental libraries and common utilities, such as standard type definitions (STD_TYPES) and bit manipulation macros (BIT_MATH), which are utilized across all other layers.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8" y="3534613"/>
            <a:ext cx="8151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approach isolates hardware details from application logic, making the system adaptable to different hardware configurations and promoting cleaner code separation.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580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EEPROM Memory Layout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036886"/>
            <a:ext cx="8151763" cy="2103686"/>
          </a:xfrm>
          <a:prstGeom prst="roundRect">
            <a:avLst>
              <a:gd name="adj" fmla="val 25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389087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738908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088728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438549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788369"/>
            <a:ext cx="8151763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36886"/>
            <a:ext cx="8030" cy="210368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320" y="1116211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2820" y="1116211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Stored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9320" y="1466031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2820" y="1466031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Counter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9320" y="1815852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0x0002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2820" y="1815852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1 (3 bytes)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9320" y="2165672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0x0005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2820" y="2165672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2 (3 bytes)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320" y="2515493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0x0008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2820" y="2515493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3 (3 bytes)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320" y="2865313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2820" y="2865313"/>
            <a:ext cx="426906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119" y="3271540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Information: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6119" y="3598441"/>
            <a:ext cx="8151763" cy="11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record occupies 3 bytes (Record ID + Temperature + Light)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capacity: 60 records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Counter starts at address 0x0000 (2 bytes)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data record starts at address 0x0002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EEPROM usage: 2 bytes (counter) + (60 × 3 bytes) = 182 bytes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56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Alarm Conditions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72009"/>
            <a:ext cx="8151763" cy="2222897"/>
          </a:xfrm>
          <a:prstGeom prst="roundRect">
            <a:avLst>
              <a:gd name="adj" fmla="val 25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44079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813768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183457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53146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22836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72009"/>
            <a:ext cx="8307" cy="222289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3785" y="1156246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Alarm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7285" y="1156246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3785" y="1525935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Temperature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7285" y="1525935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 &gt; High Threshold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3785" y="1895624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Temperature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7285" y="1895624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 &lt; Low Threshold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785" y="2265313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7285" y="2265313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&gt; High Threshold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785" y="2635002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7285" y="2635002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&lt; Low Threshold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785" y="3004691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EEPROM Full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7285" y="3004691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count = 60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119" y="3435028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Information: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6119" y="3781127"/>
            <a:ext cx="8151763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alarms are edge-triggered (fired once per threshold crossing, not repeated while condition persists)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limit is exceeded, a UART notification is sent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LCD/status output is updated accordingly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Alarms help prevent system damage and alert users to abnormal conditions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Improvements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Humidity Sensor (DHT11/DHT22)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61034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humidity monitoring capabilities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RTC Time Stamping for logged records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561034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timestamps for historical data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50152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SD Card data logging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storage capacity beyond EEPROM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Wi-Fi / IoT cloud dashboard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remote monitoring and data access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Weather trend analysis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data analysis and trend visualization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5F73402-4D8A-B7B1-400A-66BE1F71AC99}"/>
              </a:ext>
            </a:extLst>
          </p:cNvPr>
          <p:cNvSpPr/>
          <p:nvPr/>
        </p:nvSpPr>
        <p:spPr>
          <a:xfrm>
            <a:off x="496119" y="5002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Information</a:t>
            </a:r>
            <a:endParaRPr lang="en-US" sz="2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B4E48DE-F997-DF78-1ED6-CF9B9BBF5366}"/>
              </a:ext>
            </a:extLst>
          </p:cNvPr>
          <p:cNvSpPr/>
          <p:nvPr/>
        </p:nvSpPr>
        <p:spPr>
          <a:xfrm>
            <a:off x="496119" y="999976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Systems Diploma</a:t>
            </a:r>
            <a:endParaRPr lang="en-US" sz="1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152F7F3-7354-F9E5-A35D-96BB1FDA8A06}"/>
              </a:ext>
            </a:extLst>
          </p:cNvPr>
          <p:cNvSpPr/>
          <p:nvPr/>
        </p:nvSpPr>
        <p:spPr>
          <a:xfrm>
            <a:off x="496119" y="1556370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92772C5-3709-5C97-D264-0998D01A018B}"/>
              </a:ext>
            </a:extLst>
          </p:cNvPr>
          <p:cNvSpPr/>
          <p:nvPr/>
        </p:nvSpPr>
        <p:spPr>
          <a:xfrm>
            <a:off x="708720" y="1478384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C programming</a:t>
            </a:r>
            <a:endParaRPr lang="en-US" sz="11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7357D81-2376-DFA2-BFF4-F68873D4738E}"/>
              </a:ext>
            </a:extLst>
          </p:cNvPr>
          <p:cNvSpPr/>
          <p:nvPr/>
        </p:nvSpPr>
        <p:spPr>
          <a:xfrm>
            <a:off x="496119" y="2066702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5D5876E-117A-C0EA-C805-49A175867A16}"/>
              </a:ext>
            </a:extLst>
          </p:cNvPr>
          <p:cNvSpPr/>
          <p:nvPr/>
        </p:nvSpPr>
        <p:spPr>
          <a:xfrm>
            <a:off x="708720" y="1988716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AVR Microcontroller Architecture</a:t>
            </a:r>
            <a:endParaRPr lang="en-US" sz="11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60C72B0-6F0C-954C-ED9E-AA6DD62055B9}"/>
              </a:ext>
            </a:extLst>
          </p:cNvPr>
          <p:cNvSpPr/>
          <p:nvPr/>
        </p:nvSpPr>
        <p:spPr>
          <a:xfrm>
            <a:off x="496119" y="2577033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0BFE140-94F5-DCAE-73C9-D18E992FA372}"/>
              </a:ext>
            </a:extLst>
          </p:cNvPr>
          <p:cNvSpPr/>
          <p:nvPr/>
        </p:nvSpPr>
        <p:spPr>
          <a:xfrm>
            <a:off x="708720" y="2499047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ADC, LCD, EEPROM, UART peripherals</a:t>
            </a:r>
            <a:endParaRPr lang="en-US" sz="11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4B18FF07-C4EC-B0F3-72FC-C8E024BDF3B0}"/>
              </a:ext>
            </a:extLst>
          </p:cNvPr>
          <p:cNvSpPr/>
          <p:nvPr/>
        </p:nvSpPr>
        <p:spPr>
          <a:xfrm>
            <a:off x="496119" y="3087365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C6D80C-2C67-1210-DAFB-818B1EBF1C5A}"/>
              </a:ext>
            </a:extLst>
          </p:cNvPr>
          <p:cNvSpPr/>
          <p:nvPr/>
        </p:nvSpPr>
        <p:spPr>
          <a:xfrm>
            <a:off x="708720" y="3009379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Timers &amp; Interrupts</a:t>
            </a:r>
            <a:endParaRPr lang="en-US" sz="11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1B131DB9-E60E-5E1E-7E07-A51EAE954572}"/>
              </a:ext>
            </a:extLst>
          </p:cNvPr>
          <p:cNvSpPr/>
          <p:nvPr/>
        </p:nvSpPr>
        <p:spPr>
          <a:xfrm>
            <a:off x="496119" y="3597697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7B187A1-41F9-FCCA-5748-707F85A8BAB4}"/>
              </a:ext>
            </a:extLst>
          </p:cNvPr>
          <p:cNvSpPr/>
          <p:nvPr/>
        </p:nvSpPr>
        <p:spPr>
          <a:xfrm>
            <a:off x="708720" y="3519711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Development</a:t>
            </a:r>
            <a:endParaRPr lang="en-US" sz="11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F1952CC1-F290-6142-5D67-A3B6A376070F}"/>
              </a:ext>
            </a:extLst>
          </p:cNvPr>
          <p:cNvSpPr/>
          <p:nvPr/>
        </p:nvSpPr>
        <p:spPr>
          <a:xfrm>
            <a:off x="496119" y="4108028"/>
            <a:ext cx="70842" cy="70842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DBE0397-0388-7591-83B6-71EE45D5269F}"/>
              </a:ext>
            </a:extLst>
          </p:cNvPr>
          <p:cNvSpPr/>
          <p:nvPr/>
        </p:nvSpPr>
        <p:spPr>
          <a:xfrm>
            <a:off x="708720" y="4030042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Software Architecture</a:t>
            </a:r>
            <a:endParaRPr lang="en-US" sz="11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659F978C-DFD9-3297-FCAD-98B886DD1365}"/>
              </a:ext>
            </a:extLst>
          </p:cNvPr>
          <p:cNvSpPr/>
          <p:nvPr/>
        </p:nvSpPr>
        <p:spPr>
          <a:xfrm>
            <a:off x="496119" y="44163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practical application of all these topics in a real-world embedded systems scenario.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270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1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&amp; Acknowledgments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1518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16025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196579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 Mohamed Ramadan Elsotohy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Seif Alaa Abd El Fattah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Sobhy Mohammed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Ayman Fekry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16349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52670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Eng. Hesham Ahmed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191518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Acknowledgments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49701" y="1687637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thanks 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04199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Telecommunications Institute (NTI)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Eng. Hesham Ahmed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Gestell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2963317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License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49701" y="3459435"/>
            <a:ext cx="3902943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was developed during the NTI Embedded Systems Training Program.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under the MIT License.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Organization: Gestell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1408</Words>
  <Application>Microsoft Office PowerPoint</Application>
  <PresentationFormat>On-screen Show (16:9)</PresentationFormat>
  <Paragraphs>234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Inter</vt:lpstr>
      <vt:lpstr>Consolas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OUFA alaa</cp:lastModifiedBy>
  <cp:revision>2</cp:revision>
  <dcterms:created xsi:type="dcterms:W3CDTF">2026-08-03T13:09:15Z</dcterms:created>
  <dcterms:modified xsi:type="dcterms:W3CDTF">2026-08-03T13:35:51Z</dcterms:modified>
</cp:coreProperties>
</file>